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81" r:id="rId2"/>
    <p:sldId id="282" r:id="rId3"/>
    <p:sldId id="283" r:id="rId4"/>
    <p:sldId id="284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68" r:id="rId13"/>
    <p:sldId id="270" r:id="rId14"/>
    <p:sldId id="271" r:id="rId15"/>
    <p:sldId id="29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5" userDrawn="1">
          <p15:clr>
            <a:srgbClr val="A4A3A4"/>
          </p15:clr>
        </p15:guide>
        <p15:guide id="2" pos="39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82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40" y="76"/>
      </p:cViewPr>
      <p:guideLst>
        <p:guide orient="horz" pos="2275"/>
        <p:guide pos="39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1440" y="393065"/>
            <a:ext cx="1182624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600" b="1" dirty="0"/>
              <a:t>Software-Defined Peripheral </a:t>
            </a:r>
            <a:r>
              <a:rPr lang="zh-CN" altLang="en-US" sz="2600" b="1" dirty="0"/>
              <a:t>（</a:t>
            </a:r>
            <a:r>
              <a:rPr lang="en-US" altLang="zh-CN" sz="2600" b="1" dirty="0"/>
              <a:t>Environment/Access</a:t>
            </a:r>
            <a:r>
              <a:rPr lang="zh-CN" altLang="en-US" sz="2600" b="1" dirty="0"/>
              <a:t>）</a:t>
            </a:r>
            <a:r>
              <a:rPr lang="en-US" altLang="zh-CN" sz="2600" b="1" dirty="0"/>
              <a:t> for FPGA Prototyping</a:t>
            </a: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298450" y="1070610"/>
            <a:ext cx="6252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Introduction</a:t>
            </a: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298450" y="1619885"/>
            <a:ext cx="11529695" cy="789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dirty="0">
                <a:sym typeface="+mn-ea"/>
              </a:rPr>
              <a:t>硅前原型验证时，对处理器</a:t>
            </a:r>
            <a:r>
              <a:rPr lang="en-US" altLang="zh-CN" sz="2000" dirty="0">
                <a:sym typeface="+mn-ea"/>
              </a:rPr>
              <a:t>I/O</a:t>
            </a:r>
            <a:r>
              <a:rPr lang="zh-CN" altLang="en-US" sz="2000" dirty="0">
                <a:sym typeface="+mn-ea"/>
              </a:rPr>
              <a:t>功能的验证十分重要。</a:t>
            </a:r>
          </a:p>
          <a:p>
            <a:r>
              <a:rPr lang="zh-CN" altLang="en-US" sz="2000" dirty="0">
                <a:sym typeface="+mn-ea"/>
              </a:rPr>
              <a:t>虚拟外设模型具有较高的可配置性，但其行为由软件模型近似描述，难以完整覆盖真实设备的运行特征，验证结果的真实性受到模型保真度限制。</a:t>
            </a:r>
          </a:p>
          <a:p>
            <a:r>
              <a:rPr lang="zh-CN" altLang="en-US" sz="2000" dirty="0">
                <a:sym typeface="+mn-ea"/>
              </a:rPr>
              <a:t>因此，硅前原型验证环境中对处理器进行系统级验证时需要使用真实外设。</a:t>
            </a:r>
          </a:p>
          <a:p>
            <a:endParaRPr lang="zh-CN" altLang="en-US" sz="2000" dirty="0"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98450" y="3001645"/>
            <a:ext cx="3495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现有方案的局限</a:t>
            </a: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298450" y="3549015"/>
            <a:ext cx="1127442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物理外设</a:t>
            </a:r>
            <a:r>
              <a:rPr lang="zh-CN" altLang="en-US" sz="2000" dirty="0"/>
              <a:t>接入能够保留真实控制器、固件及 </a:t>
            </a:r>
            <a:r>
              <a:rPr lang="en-US" altLang="zh-CN" sz="2000" dirty="0"/>
              <a:t>DMA </a:t>
            </a:r>
            <a:r>
              <a:rPr lang="zh-CN" altLang="en-US" sz="2000" dirty="0"/>
              <a:t>行为，但大规模设备访问受到板级接口、物理部署和连接关系的约束，同时缺乏对设备交互的观测与干预能力，难以开展可控的故障注入与异常场景验证。</a:t>
            </a:r>
          </a:p>
          <a:p>
            <a:endParaRPr lang="zh-CN" altLang="en-US" sz="2000" dirty="0">
              <a:sym typeface="+mn-ea"/>
            </a:endParaRPr>
          </a:p>
          <a:p>
            <a:r>
              <a:rPr lang="zh-CN" altLang="en-US" sz="2000" dirty="0">
                <a:sym typeface="+mn-ea"/>
              </a:rPr>
              <a:t>更深层地看，现有方案中，</a:t>
            </a:r>
            <a:r>
              <a:rPr lang="zh-CN" altLang="en-US" sz="2000" b="1" dirty="0">
                <a:sym typeface="+mn-ea"/>
              </a:rPr>
              <a:t>设备交互、设备控制和数据传输</a:t>
            </a:r>
            <a:r>
              <a:rPr lang="zh-CN" altLang="en-US" sz="2000" dirty="0">
                <a:sym typeface="+mn-ea"/>
              </a:rPr>
              <a:t>通常受物理接入方式共同约束，使 </a:t>
            </a:r>
            <a:r>
              <a:rPr lang="en-US" altLang="zh-CN" sz="2000" dirty="0">
                <a:sym typeface="+mn-ea"/>
              </a:rPr>
              <a:t>DUT </a:t>
            </a:r>
            <a:r>
              <a:rPr lang="zh-CN" altLang="en-US" sz="2000" dirty="0">
                <a:sym typeface="+mn-ea"/>
              </a:rPr>
              <a:t>可见设备、控制方式和数据路径缺乏独立调整的灵活性，从而难以同时兼顾真实设备行为、可扩展的设备接入以及对运行时交互的可观测与可干预能力。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2435" y="361950"/>
            <a:ext cx="116008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为解决现有方案的缺点，我们提出</a:t>
            </a:r>
            <a:r>
              <a:rPr lang="zh-CN" altLang="en-US" sz="2400">
                <a:solidFill>
                  <a:srgbClr val="FF0000"/>
                </a:solidFill>
              </a:rPr>
              <a:t>软件定义外设（环境）</a:t>
            </a:r>
            <a:r>
              <a:rPr lang="zh-CN" altLang="en-US" sz="2400"/>
              <a:t>，使 </a:t>
            </a:r>
            <a:r>
              <a:rPr lang="en-US" altLang="zh-CN" sz="2400"/>
              <a:t>DUT </a:t>
            </a:r>
            <a:r>
              <a:rPr lang="zh-CN" altLang="en-US" sz="2400"/>
              <a:t>与真实外设之间的接入关系不再由物理连接直接决定，而能够进行配置与重构。</a:t>
            </a:r>
          </a:p>
          <a:p>
            <a:r>
              <a:rPr lang="zh-CN" altLang="en-US" sz="2400" b="1"/>
              <a:t>核心贡献点有：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32435" y="1447800"/>
            <a:ext cx="11181715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①控制通路</a:t>
            </a:r>
            <a:r>
              <a:rPr lang="en-US" altLang="zh-CN" sz="2000" dirty="0"/>
              <a:t>-</a:t>
            </a:r>
            <a:r>
              <a:rPr lang="zh-CN" altLang="en-US" sz="2000" dirty="0"/>
              <a:t>数据通路解耦：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将设备配置与运行时控制从实际 </a:t>
            </a:r>
            <a:r>
              <a:rPr lang="en-US" altLang="zh-CN" sz="2000" dirty="0"/>
              <a:t>I/O </a:t>
            </a:r>
            <a:r>
              <a:rPr lang="zh-CN" altLang="en-US" sz="2000" dirty="0"/>
              <a:t>数据传输中解耦，使控制行为可以被软件中介，而数据传输采用独立的数据路径。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贡献：在保留控制可编程性的同时，避免将大规模数据传输经过软件代理，为远端真实外设提供本地化的接入方式。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000" dirty="0"/>
          </a:p>
          <a:p>
            <a:r>
              <a:rPr lang="zh-CN" altLang="en-US" sz="2000" dirty="0"/>
              <a:t>②设备交互</a:t>
            </a:r>
            <a:r>
              <a:rPr lang="en-US" altLang="zh-CN" sz="2000" dirty="0"/>
              <a:t>-</a:t>
            </a:r>
            <a:r>
              <a:rPr lang="zh-CN" altLang="en-US" sz="2000" dirty="0"/>
              <a:t>设备实现解耦：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将 </a:t>
            </a:r>
            <a:r>
              <a:rPr lang="en-US" altLang="zh-CN" sz="2000" dirty="0"/>
              <a:t>DUT </a:t>
            </a:r>
            <a:r>
              <a:rPr lang="zh-CN" altLang="en-US" sz="2000" dirty="0"/>
              <a:t>所看到的逻辑设备视图与真实设备的物理位置和具体后端实现解耦。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贡献：使同一 </a:t>
            </a:r>
            <a:r>
              <a:rPr lang="en-US" altLang="zh-CN" sz="2000" dirty="0"/>
              <a:t>DUT </a:t>
            </a:r>
            <a:r>
              <a:rPr lang="zh-CN" altLang="en-US" sz="2000" dirty="0"/>
              <a:t>接口能够映射到不同位置、不同类型的真实设备，从而支持跨 </a:t>
            </a:r>
            <a:r>
              <a:rPr lang="en-US" altLang="zh-CN" sz="2000" dirty="0"/>
              <a:t>Host </a:t>
            </a:r>
            <a:r>
              <a:rPr lang="zh-CN" altLang="en-US" sz="2000" dirty="0"/>
              <a:t>接入、设备替换和软件定义组合，而无需修改 </a:t>
            </a:r>
            <a:r>
              <a:rPr lang="en-US" altLang="zh-CN" sz="2000" dirty="0"/>
              <a:t>DUT </a:t>
            </a:r>
            <a:r>
              <a:rPr lang="zh-CN" altLang="en-US" sz="2000" dirty="0"/>
              <a:t>侧软硬件接口。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hatGPT Image 2026年9月17日 19_16_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425" y="157480"/>
            <a:ext cx="4888230" cy="6543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2250" y="187960"/>
            <a:ext cx="3175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Architecture </a:t>
            </a:r>
          </a:p>
        </p:txBody>
      </p:sp>
      <p:pic>
        <p:nvPicPr>
          <p:cNvPr id="4" name="图片 3" descr="ChatGPT Image 2026年9月17日 19_11_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648335"/>
            <a:ext cx="9305290" cy="6203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66725" y="311785"/>
            <a:ext cx="522541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b="1"/>
              <a:t>Logical Topology Configuration  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66725" y="1247140"/>
            <a:ext cx="3996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①</a:t>
            </a:r>
            <a:r>
              <a:rPr lang="en-US" altLang="zh-CN" sz="2400"/>
              <a:t> Topology Specification</a:t>
            </a: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66725" y="2151380"/>
            <a:ext cx="8399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定义固定的虚拟 </a:t>
            </a:r>
            <a:r>
              <a:rPr lang="en-US" altLang="zh-CN" sz="2000"/>
              <a:t>PCIe </a:t>
            </a:r>
            <a:r>
              <a:rPr lang="zh-CN" altLang="en-US" sz="2000"/>
              <a:t>层次、</a:t>
            </a:r>
            <a:r>
              <a:rPr lang="zh-CN" altLang="en-US" sz="2000">
                <a:sym typeface="+mn-ea"/>
              </a:rPr>
              <a:t>决定每个逻辑 </a:t>
            </a:r>
            <a:r>
              <a:rPr lang="en-US" altLang="zh-CN" sz="2000">
                <a:sym typeface="+mn-ea"/>
              </a:rPr>
              <a:t>Endpoint </a:t>
            </a:r>
            <a:r>
              <a:rPr lang="zh-CN" altLang="en-US" sz="2000">
                <a:sym typeface="+mn-ea"/>
              </a:rPr>
              <a:t>后面对应什么设备</a:t>
            </a:r>
            <a:endParaRPr lang="en-US" altLang="zh-CN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6565" y="349250"/>
            <a:ext cx="606742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/>
              <a:t>Configuration-Space Virtualization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6565" y="1296670"/>
            <a:ext cx="6066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①</a:t>
            </a:r>
            <a:r>
              <a:rPr lang="en-US" altLang="zh-CN" sz="2400"/>
              <a:t> Configuration Image Construction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6565" y="3067685"/>
            <a:ext cx="4935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②</a:t>
            </a:r>
            <a:r>
              <a:rPr lang="en-US" altLang="zh-CN" sz="2400"/>
              <a:t> </a:t>
            </a:r>
            <a:r>
              <a:rPr lang="zh-CN" altLang="en-US" sz="2400"/>
              <a:t>前端：</a:t>
            </a:r>
            <a:r>
              <a:rPr lang="en-US" altLang="zh-CN" sz="2400"/>
              <a:t>ECAM Access Mediation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56565" y="4838700"/>
            <a:ext cx="7366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zh-CN" altLang="en-US" sz="2400"/>
              <a:t>③</a:t>
            </a:r>
            <a:r>
              <a:rPr lang="en-US" altLang="zh-CN" sz="2400"/>
              <a:t> </a:t>
            </a:r>
            <a:r>
              <a:rPr lang="zh-CN" altLang="en-US" sz="2400"/>
              <a:t>后端：</a:t>
            </a:r>
            <a:r>
              <a:rPr lang="en-US" altLang="zh-CN" sz="2400"/>
              <a:t>State Synchronization and Routing Coherence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56565" y="2212975"/>
            <a:ext cx="89541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为逻辑 </a:t>
            </a:r>
            <a:r>
              <a:rPr lang="en-US" altLang="zh-CN" sz="2000"/>
              <a:t>PCIe </a:t>
            </a:r>
            <a:r>
              <a:rPr lang="zh-CN" altLang="en-US" sz="2000"/>
              <a:t>节点构造符合设备/桥语义的配置空间镜像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6565" y="3983990"/>
            <a:ext cx="9782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前端模块在 </a:t>
            </a:r>
            <a:r>
              <a:rPr lang="en-US" altLang="zh-CN" sz="2000"/>
              <a:t>FPGA</a:t>
            </a:r>
            <a:r>
              <a:rPr lang="zh-CN" altLang="en-US" sz="2000"/>
              <a:t>上暴露标准 </a:t>
            </a:r>
            <a:r>
              <a:rPr lang="en-US" altLang="zh-CN" sz="2000"/>
              <a:t>ECAM，</a:t>
            </a:r>
            <a:r>
              <a:rPr lang="zh-CN" altLang="en-US" sz="2000"/>
              <a:t>并将对于配置空间的操作交给后端处理；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6565" y="5755005"/>
            <a:ext cx="104692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针对前端传递的请求，在软件后端进行权威配置状态同步</a:t>
            </a:r>
            <a:r>
              <a:rPr lang="en-US" altLang="zh-CN" sz="2000"/>
              <a:t>，</a:t>
            </a:r>
            <a:r>
              <a:rPr lang="zh-CN" altLang="en-US" sz="2000">
                <a:sym typeface="+mn-ea"/>
              </a:rPr>
              <a:t>并维护</a:t>
            </a:r>
            <a:r>
              <a:rPr lang="en-US" altLang="zh-CN" sz="2000">
                <a:sym typeface="+mn-ea"/>
              </a:rPr>
              <a:t>FPGA</a:t>
            </a:r>
            <a:r>
              <a:rPr lang="zh-CN" altLang="en-US" sz="2000">
                <a:sym typeface="+mn-ea"/>
              </a:rPr>
              <a:t>上的配置空间</a:t>
            </a:r>
            <a:r>
              <a:rPr lang="en-US" altLang="zh-CN" sz="2000">
                <a:sym typeface="+mn-ea"/>
              </a:rPr>
              <a:t>cache</a:t>
            </a:r>
            <a:r>
              <a:rPr lang="zh-CN" altLang="en-US" sz="2000">
                <a:sym typeface="+mn-ea"/>
              </a:rPr>
              <a:t>，来实现处理器读取配置空间的加速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7040" y="2178685"/>
            <a:ext cx="99504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根据逻辑 </a:t>
            </a:r>
            <a:r>
              <a:rPr lang="en-US" altLang="zh-CN" sz="2000"/>
              <a:t>Endpoint </a:t>
            </a:r>
            <a:r>
              <a:rPr lang="zh-CN" altLang="en-US" sz="2000"/>
              <a:t>的身份，将 </a:t>
            </a:r>
            <a:r>
              <a:rPr lang="en-US" altLang="zh-CN" sz="2000"/>
              <a:t>DUT </a:t>
            </a:r>
            <a:r>
              <a:rPr lang="zh-CN" altLang="en-US" sz="2000"/>
              <a:t>发出的设备访问分派到对应的真实设备后端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47040" y="355600"/>
            <a:ext cx="439420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 dirty="0"/>
              <a:t>Endpoint Semantic Mediation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47040" y="12827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① Backend Dispatch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47040" y="3013075"/>
            <a:ext cx="10147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② Device-Specific Semantic Translation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47040" y="3909060"/>
            <a:ext cx="110807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解析原生驱动产生的设备操作，并按照具体设备协议解释其运行时控制语义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47040" y="4743450"/>
            <a:ext cx="9473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③ Control Response Mediation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47040" y="5639435"/>
            <a:ext cx="11226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将后端产生的寄存器读返回和控制访问响应映射回 </a:t>
            </a:r>
            <a:r>
              <a:rPr lang="en-US" altLang="zh-CN" sz="2000"/>
              <a:t>DUT，</a:t>
            </a:r>
            <a:r>
              <a:rPr lang="zh-CN" altLang="en-US" sz="2000"/>
              <a:t>完成运行时控制交互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3550" y="381000"/>
            <a:ext cx="396240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/>
              <a:t>DMA Data-Path Integration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3550" y="13411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① DMA Retarget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3550" y="2270125"/>
            <a:ext cx="105086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将命令或描述符中的 </a:t>
            </a:r>
            <a:r>
              <a:rPr lang="en-US" altLang="zh-CN" sz="2000"/>
              <a:t>DUT DMA </a:t>
            </a:r>
            <a:r>
              <a:rPr lang="zh-CN" altLang="en-US" sz="2000"/>
              <a:t>地址重写为真实设备后端可访问的地址。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3550" y="3137535"/>
            <a:ext cx="8800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② Backend-Specific Data Transport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63550" y="4066540"/>
            <a:ext cx="100444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根据设备部署位置建立对应的本地或远程数据传输路径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63550" y="49339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③ DMA Completion Visibility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63550" y="5862955"/>
            <a:ext cx="105079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将 </a:t>
            </a:r>
            <a:r>
              <a:rPr lang="en-US" altLang="zh-CN" sz="2000"/>
              <a:t>DMA </a:t>
            </a:r>
            <a:r>
              <a:rPr lang="zh-CN" altLang="en-US" sz="2000"/>
              <a:t>数据及内存侧完成状态正确呈现至 </a:t>
            </a:r>
            <a:r>
              <a:rPr lang="en-US" altLang="zh-CN" sz="2000"/>
              <a:t>DUT memory，</a:t>
            </a:r>
            <a:r>
              <a:rPr lang="zh-CN" altLang="en-US" sz="2000"/>
              <a:t>使原生驱动能够获取传输结果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150" y="260350"/>
            <a:ext cx="1929765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600" b="1"/>
              <a:t>Evaluation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1150" y="101155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①</a:t>
            </a:r>
            <a:r>
              <a:rPr lang="en-US" altLang="zh-CN" sz="2400"/>
              <a:t>Experimental Setup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1150" y="1732280"/>
            <a:ext cx="11391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介绍下系统搭在什么平台上、用了哪些真实设备、哪些是本地/远端、实验环境是什么，实现代价</a:t>
            </a:r>
          </a:p>
        </p:txBody>
      </p:sp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342900" y="2308860"/>
            <a:ext cx="10763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②</a:t>
            </a:r>
            <a:r>
              <a:rPr lang="en-US" altLang="zh-CN" sz="2400" dirty="0"/>
              <a:t>Control-Path Overhead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42900" y="3041015"/>
            <a:ext cx="74161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板载</a:t>
            </a:r>
            <a:r>
              <a:rPr lang="en-US" altLang="zh-CN" sz="2000"/>
              <a:t>--&gt;HOST--&gt;</a:t>
            </a:r>
            <a:r>
              <a:rPr lang="zh-CN" altLang="en-US" sz="2000"/>
              <a:t>远端</a:t>
            </a:r>
            <a:br>
              <a:rPr lang="zh-CN" altLang="en-US" sz="2000"/>
            </a:br>
            <a:r>
              <a:rPr lang="en-US" altLang="zh-CN" sz="2000"/>
              <a:t>Basic MMIO Mediation Latency</a:t>
            </a:r>
            <a:br>
              <a:rPr lang="en-US" altLang="zh-CN" sz="2000"/>
            </a:br>
            <a:r>
              <a:rPr lang="en-US" altLang="zh-CN" sz="2000"/>
              <a:t>Device-Specific Runtime Control Latency</a:t>
            </a:r>
          </a:p>
        </p:txBody>
      </p:sp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342900" y="4327525"/>
            <a:ext cx="3443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③</a:t>
            </a:r>
            <a:r>
              <a:rPr lang="en-US" altLang="zh-CN" sz="2400" dirty="0"/>
              <a:t>Data-Path Performance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42900" y="5059680"/>
            <a:ext cx="63639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1. </a:t>
            </a:r>
            <a:r>
              <a:rPr lang="zh-CN" altLang="en-US" sz="2000"/>
              <a:t>先选几个最典型的 </a:t>
            </a:r>
            <a:r>
              <a:rPr lang="en-US" altLang="zh-CN" sz="2000"/>
              <a:t>workload，</a:t>
            </a:r>
            <a:r>
              <a:rPr lang="zh-CN" altLang="en-US" sz="2000"/>
              <a:t>做三种位置的直接对比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42900" y="5730240"/>
            <a:ext cx="8907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2. </a:t>
            </a:r>
            <a:r>
              <a:rPr lang="zh-CN" altLang="en-US" sz="2000"/>
              <a:t>这种性能差异会不会随着单次传输大小变化而变化，画曲线图</a:t>
            </a:r>
            <a:r>
              <a:rPr lang="en-US" altLang="zh-CN" sz="2000"/>
              <a:t>/</a:t>
            </a:r>
            <a:r>
              <a:rPr lang="zh-CN" altLang="en-US" sz="2000"/>
              <a:t>柱状图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759065" y="3542665"/>
            <a:ext cx="391541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Block Size   On-board   Host-A   Host-B</a:t>
            </a:r>
          </a:p>
          <a:p>
            <a:r>
              <a:rPr lang="en-US" altLang="zh-CN" dirty="0"/>
              <a:t>4K</a:t>
            </a:r>
          </a:p>
          <a:p>
            <a:r>
              <a:rPr lang="en-US" altLang="zh-CN" dirty="0"/>
              <a:t>16K</a:t>
            </a:r>
          </a:p>
          <a:p>
            <a:r>
              <a:rPr lang="en-US" altLang="zh-CN" dirty="0"/>
              <a:t>64K</a:t>
            </a:r>
          </a:p>
          <a:p>
            <a:r>
              <a:rPr lang="en-US" altLang="zh-CN" dirty="0"/>
              <a:t>128K</a:t>
            </a:r>
          </a:p>
          <a:p>
            <a:r>
              <a:rPr lang="en-US" altLang="zh-CN" dirty="0"/>
              <a:t>256K</a:t>
            </a:r>
          </a:p>
          <a:p>
            <a:r>
              <a:rPr lang="en-US" altLang="zh-CN" dirty="0"/>
              <a:t>1M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91465" y="3126740"/>
            <a:ext cx="25234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⑤</a:t>
            </a:r>
            <a:r>
              <a:rPr lang="en-US" altLang="zh-CN" sz="2400" dirty="0"/>
              <a:t>Fault Injection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91465" y="749300"/>
            <a:ext cx="11306810" cy="490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sym typeface="+mn-ea"/>
              </a:rPr>
              <a:t>④</a:t>
            </a:r>
            <a:r>
              <a:rPr lang="en-US" altLang="zh-CN" sz="2400" dirty="0">
                <a:sym typeface="+mn-ea"/>
              </a:rPr>
              <a:t>Functional Validation of Software-Defined Peripheral environment</a:t>
            </a:r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291465" y="1901190"/>
            <a:ext cx="112045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ym typeface="+mn-ea"/>
              </a:rPr>
              <a:t>通过本地</a:t>
            </a:r>
            <a:r>
              <a:rPr lang="en-US" altLang="zh-CN" sz="2000" dirty="0">
                <a:sym typeface="+mn-ea"/>
              </a:rPr>
              <a:t>/</a:t>
            </a:r>
            <a:r>
              <a:rPr lang="zh-CN" altLang="en-US" sz="2000" dirty="0">
                <a:sym typeface="+mn-ea"/>
              </a:rPr>
              <a:t>远程 </a:t>
            </a:r>
            <a:r>
              <a:rPr lang="en-US" altLang="zh-CN" sz="2000" dirty="0" err="1">
                <a:sym typeface="+mn-ea"/>
              </a:rPr>
              <a:t>NVMe、NIC、Vortex、FSA</a:t>
            </a:r>
            <a:r>
              <a:rPr lang="en-US" altLang="zh-CN" sz="2000" dirty="0">
                <a:sym typeface="+mn-ea"/>
              </a:rPr>
              <a:t> </a:t>
            </a:r>
            <a:r>
              <a:rPr lang="zh-CN" altLang="en-US" sz="2000" dirty="0">
                <a:sym typeface="+mn-ea"/>
              </a:rPr>
              <a:t>等不同类别设备，验证该机制能针对不同类型不同位置的外设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9105" y="302895"/>
            <a:ext cx="172339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/>
              <a:t>Discussion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9105" y="1303020"/>
            <a:ext cx="5626735" cy="581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dirty="0"/>
              <a:t>①</a:t>
            </a:r>
            <a:r>
              <a:rPr lang="en-US" altLang="zh-CN" sz="2000" dirty="0"/>
              <a:t>Validation Scope</a:t>
            </a:r>
            <a:r>
              <a:rPr lang="zh-CN" altLang="en-US" sz="2000" dirty="0"/>
              <a:t>（速度匹配）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59105" y="2518410"/>
            <a:ext cx="28047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②</a:t>
            </a:r>
            <a:r>
              <a:rPr lang="en-US" altLang="zh-CN" sz="2000" dirty="0"/>
              <a:t>Device Extensibility</a:t>
            </a:r>
          </a:p>
          <a:p>
            <a:endParaRPr lang="en-US" altLang="zh-CN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59105" y="373380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③</a:t>
            </a:r>
            <a:r>
              <a:rPr lang="en-US" altLang="zh-CN" sz="2000" dirty="0"/>
              <a:t>Future Extensions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59105" y="4817745"/>
            <a:ext cx="195262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/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530860" y="762000"/>
          <a:ext cx="9429750" cy="261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写</a:t>
                      </a:r>
                      <a:r>
                        <a:rPr lang="en-US" altLang="zh-CN" sz="2400"/>
                        <a:t>BAR</a:t>
                      </a:r>
                      <a:r>
                        <a:rPr lang="zh-CN" altLang="en-US" sz="240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有效请求的门铃提交延迟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16.62 μs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54.97 μs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23240" y="137160"/>
            <a:ext cx="5187315" cy="624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/>
              <a:t>本机控制通路延迟</a:t>
            </a:r>
            <a:r>
              <a:rPr lang="en-US" altLang="zh-CN" sz="3200" b="1"/>
              <a:t> cycle</a:t>
            </a:r>
            <a:r>
              <a:rPr lang="zh-CN" altLang="en-US" sz="3200" b="1"/>
              <a:t>计时</a:t>
            </a:r>
          </a:p>
          <a:p>
            <a:endParaRPr lang="zh-CN" altLang="en-US" sz="3200" b="1"/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530860" y="4125595"/>
          <a:ext cx="9429750" cy="261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写</a:t>
                      </a:r>
                      <a:r>
                        <a:rPr lang="en-US" altLang="zh-CN" sz="2400"/>
                        <a:t>BAR</a:t>
                      </a:r>
                      <a:r>
                        <a:rPr lang="zh-CN" altLang="en-US" sz="240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有效请求的门铃提交延迟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2.45 μs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4.81 μs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23240" y="3429000"/>
            <a:ext cx="58102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>
                <a:sym typeface="+mn-ea"/>
              </a:rPr>
              <a:t>板载控制通路延迟</a:t>
            </a:r>
            <a:r>
              <a:rPr lang="en-US" altLang="zh-CN" sz="3200" b="1">
                <a:sym typeface="+mn-ea"/>
              </a:rPr>
              <a:t> cycle</a:t>
            </a:r>
            <a:r>
              <a:rPr lang="zh-CN" altLang="en-US" sz="3200" b="1">
                <a:sym typeface="+mn-ea"/>
              </a:rPr>
              <a:t>计时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80415" y="56515"/>
            <a:ext cx="47040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/>
              <a:t>本机数据通路性能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780415" y="864870"/>
          <a:ext cx="958342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6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测试项目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128 KiB </a:t>
                      </a:r>
                      <a:r>
                        <a:rPr lang="zh-CN" altLang="en-US" sz="2000">
                          <a:cs typeface="+mn-lt"/>
                        </a:rPr>
                        <a:t>顺序读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13.52 MiB/s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128 KiB </a:t>
                      </a:r>
                      <a:r>
                        <a:rPr lang="zh-CN" altLang="en-US" sz="2000">
                          <a:cs typeface="+mn-lt"/>
                        </a:rPr>
                        <a:t>顺序写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12.34 MiB/s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4 KiB </a:t>
                      </a:r>
                      <a:r>
                        <a:rPr lang="zh-CN" altLang="en-US" sz="2000">
                          <a:cs typeface="+mn-lt"/>
                        </a:rPr>
                        <a:t>随机读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176.41 IOPS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4 KiB </a:t>
                      </a:r>
                      <a:r>
                        <a:rPr lang="zh-CN" altLang="en-US" sz="2000">
                          <a:cs typeface="+mn-lt"/>
                        </a:rPr>
                        <a:t>随机写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140.62 IOPS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TCP:  </a:t>
                      </a:r>
                      <a:r>
                        <a:rPr lang="zh-CN" altLang="en-US" sz="2000">
                          <a:cs typeface="+mn-lt"/>
                        </a:rPr>
                        <a:t>香山 → 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56.65 Mbit/s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TCP:  </a:t>
                      </a:r>
                      <a:r>
                        <a:rPr lang="zh-CN" altLang="en-US" sz="2000">
                          <a:cs typeface="+mn-lt"/>
                        </a:rPr>
                        <a:t>241 → 香山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46.82 Mbit/s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cs typeface="+mn-lt"/>
                          <a:sym typeface="+mn-ea"/>
                        </a:rPr>
                        <a:t>NIC</a:t>
                      </a:r>
                      <a:endParaRPr lang="en-US" altLang="zh-CN" sz="2000" b="0" i="0">
                        <a:solidFill>
                          <a:srgbClr val="CCCCCC"/>
                        </a:solidFill>
                        <a:ea typeface="-apple-system"/>
                        <a:cs typeface="+mn-lt"/>
                        <a:sym typeface="+mn-ea"/>
                      </a:endParaRPr>
                    </a:p>
                  </a:txBody>
                  <a:tcPr marL="63817" marR="63817" marT="32067" marB="32067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2000">
                          <a:cs typeface="+mn-lt"/>
                          <a:sym typeface="+mn-ea"/>
                        </a:rPr>
                        <a:t>UDP：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香山 → 241</a:t>
                      </a:r>
                      <a:endParaRPr lang="en-US" altLang="zh-CN" sz="2000" b="0" i="0">
                        <a:cs typeface="+mn-lt"/>
                      </a:endParaRPr>
                    </a:p>
                  </a:txBody>
                  <a:tcPr marL="63817" marR="63817" marT="32067" marB="32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  <a:sym typeface="+mn-ea"/>
                        </a:rPr>
                        <a:t>4.90Mbit/s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UDP:   241 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→</a:t>
                      </a:r>
                      <a:r>
                        <a:rPr lang="en-US" altLang="zh-CN" sz="2000">
                          <a:cs typeface="+mn-lt"/>
                          <a:sym typeface="+mn-ea"/>
                        </a:rPr>
                        <a:t> 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香山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7.75 Mbit/s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RTT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2.80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904240" y="841375"/>
          <a:ext cx="958342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6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6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测试项目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128 KiB </a:t>
                      </a:r>
                      <a:r>
                        <a:rPr lang="zh-CN" altLang="en-US" sz="2000">
                          <a:cs typeface="+mn-lt"/>
                        </a:rPr>
                        <a:t>顺序读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13.28 MiB/s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128 KiB </a:t>
                      </a:r>
                      <a:r>
                        <a:rPr lang="zh-CN" altLang="en-US" sz="2000">
                          <a:cs typeface="+mn-lt"/>
                        </a:rPr>
                        <a:t>顺序写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12.91 MiB/s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4 KiB </a:t>
                      </a:r>
                      <a:r>
                        <a:rPr lang="zh-CN" altLang="en-US" sz="2000">
                          <a:cs typeface="+mn-lt"/>
                        </a:rPr>
                        <a:t>随机读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174.50 IOPS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 err="1">
                          <a:cs typeface="+mn-lt"/>
                        </a:rPr>
                        <a:t>NVMe</a:t>
                      </a:r>
                      <a:endParaRPr lang="en-US" altLang="zh-CN" sz="2000" dirty="0">
                        <a:cs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4 KiB </a:t>
                      </a:r>
                      <a:r>
                        <a:rPr lang="zh-CN" altLang="en-US" sz="2000">
                          <a:cs typeface="+mn-lt"/>
                        </a:rPr>
                        <a:t>随机写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 178.07 IOPS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TCP:  </a:t>
                      </a:r>
                      <a:r>
                        <a:rPr lang="zh-CN" altLang="en-US" sz="2000">
                          <a:cs typeface="+mn-lt"/>
                        </a:rPr>
                        <a:t>香山 → 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000"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TCP:  </a:t>
                      </a:r>
                      <a:r>
                        <a:rPr lang="zh-CN" altLang="en-US" sz="2000">
                          <a:cs typeface="+mn-lt"/>
                        </a:rPr>
                        <a:t>241 → 香山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000"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cs typeface="+mn-lt"/>
                          <a:sym typeface="+mn-ea"/>
                        </a:rPr>
                        <a:t>NIC</a:t>
                      </a:r>
                      <a:endParaRPr lang="en-US" altLang="zh-CN" sz="2000" b="0" i="0">
                        <a:solidFill>
                          <a:srgbClr val="CCCCCC"/>
                        </a:solidFill>
                        <a:ea typeface="-apple-system"/>
                        <a:cs typeface="+mn-lt"/>
                        <a:sym typeface="+mn-ea"/>
                      </a:endParaRPr>
                    </a:p>
                  </a:txBody>
                  <a:tcPr marL="63817" marR="63817" marT="32067" marB="32067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2000">
                          <a:cs typeface="+mn-lt"/>
                          <a:sym typeface="+mn-ea"/>
                        </a:rPr>
                        <a:t>UDP：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香山 → 241</a:t>
                      </a:r>
                      <a:endParaRPr lang="en-US" altLang="zh-CN" sz="2000" b="0" i="0">
                        <a:cs typeface="+mn-lt"/>
                      </a:endParaRPr>
                    </a:p>
                  </a:txBody>
                  <a:tcPr marL="63817" marR="63817" marT="32067" marB="32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000">
                        <a:cs typeface="+mn-lt"/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UDP:   241 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→</a:t>
                      </a:r>
                      <a:r>
                        <a:rPr lang="en-US" altLang="zh-CN" sz="2000">
                          <a:cs typeface="+mn-lt"/>
                          <a:sym typeface="+mn-ea"/>
                        </a:rPr>
                        <a:t> </a:t>
                      </a:r>
                      <a:r>
                        <a:rPr lang="zh-CN" altLang="en-US" sz="2000">
                          <a:cs typeface="+mn-lt"/>
                          <a:sym typeface="+mn-ea"/>
                        </a:rPr>
                        <a:t>香山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000"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cs typeface="+mn-lt"/>
                        </a:rPr>
                        <a:t>RTT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000" dirty="0"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04240" y="57150"/>
            <a:ext cx="3815715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>
                <a:sym typeface="+mn-ea"/>
              </a:rPr>
              <a:t>板载数据通路性能</a:t>
            </a:r>
            <a:endParaRPr lang="zh-CN" altLang="en-US" sz="3200" b="1"/>
          </a:p>
          <a:p>
            <a:endParaRPr lang="zh-CN" altLang="en-US" sz="32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5,&quot;left&quot;:23.5,&quot;top&quot;:84.3,&quot;width&quot;:907.8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5,&quot;left&quot;:23.5,&quot;top&quot;:84.3,&quot;width&quot;:907.8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5,&quot;left&quot;:23.5,&quot;top&quot;:84.3,&quot;width&quot;:907.8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5,&quot;left&quot;:23.5,&quot;top&quot;:84.3,&quot;width&quot;:907.8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8.5,&quot;left&quot;:28.35,&quot;top&quot;:24.55,&quot;width&quot;:868.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65,&quot;left&quot;:36.75,&quot;top&quot;:94.7,&quot;width&quot;:626.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65,&quot;left&quot;:36.75,&quot;top&quot;:94.7,&quot;width&quot;:626.2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7.9,&quot;left&quot;:27,&quot;top&quot;:26,&quot;width&quot;:847.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77.9,&quot;left&quot;:27,&quot;top&quot;:26,&quot;width&quot;:847.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42*205"/>
  <p:tag name="TABLE_ENDDRAG_RECT" val="73*109*742*20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42*205"/>
  <p:tag name="TABLE_ENDDRAG_RECT" val="73*109*742*20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55*449"/>
  <p:tag name="TABLE_ENDDRAG_RECT" val="94*77*755*44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55*449"/>
  <p:tag name="TABLE_ENDDRAG_RECT" val="94*77*755*449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2259</TotalTime>
  <Words>994</Words>
  <Application>Microsoft Office PowerPoint</Application>
  <PresentationFormat>宽屏</PresentationFormat>
  <Paragraphs>139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-apple-system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maxiangyu</dc:creator>
  <cp:lastModifiedBy>ray y</cp:lastModifiedBy>
  <cp:revision>82</cp:revision>
  <dcterms:created xsi:type="dcterms:W3CDTF">2023-08-09T12:44:00Z</dcterms:created>
  <dcterms:modified xsi:type="dcterms:W3CDTF">2026-09-19T12:15:39Z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6D4FEEAAF4DC4CBEB2E53B340C61F826_12</vt:lpwstr>
  </property>
</Properties>
</file>